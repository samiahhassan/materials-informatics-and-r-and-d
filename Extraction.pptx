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6"/>
    <p:restoredTop sz="94692"/>
  </p:normalViewPr>
  <p:slideViewPr>
    <p:cSldViewPr snapToGrid="0">
      <p:cViewPr varScale="1">
        <p:scale>
          <a:sx n="106" d="100"/>
          <a:sy n="106" d="100"/>
        </p:scale>
        <p:origin x="55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5C5A-9A6D-E934-2C9F-8F0D7A84D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40916-4FB0-E58A-87F5-D189F789E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03347-4BCE-D9E3-0427-DE97272E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D1F31-FB7D-AD14-AA85-9F4545ED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0527E-4C4A-5F06-8C2D-C97A16C8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0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900A5-1B71-C496-FCC0-083651FA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19A2-D18F-6C30-5098-7A6F81CA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561AF-14FE-7750-EBB2-8FB294AE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9DE35-483B-B635-5658-DF64945B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F3DC2-584F-C514-F9FE-A780312A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95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4EAD-FF9F-63D4-2390-AE8A747C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E721E-BE9B-7B8D-7704-A3E48DFDB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A3FB-F642-D1D4-65EB-C204D7F4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9DA08-2F53-1D0A-05B9-BC5C944A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82C86-02ED-8D0C-7E13-F630117E4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F40F3-7BD3-0D7A-92CA-067971B00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DA97B-41D4-164B-D735-D984137E3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29F55-4442-8B03-4AEC-3F57A6476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540DB-885C-227B-C286-2FEE81C8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E46F8-60C4-E3B4-A1BA-A8B8CDC3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147D5-A849-4175-04C1-3F398376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8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C3D12-9638-F820-40DF-95823D88F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12AAB-872A-FB83-BE2E-DE6C6452A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A4FDC-C6F7-9533-825A-63FAFFE15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2CFF8-3E5A-5330-0B18-68D13F1F5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7A932-2EBD-26F2-EECA-CEB3950C7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5A19E-AB29-DBB5-4A68-C79C51AC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209C3E-5AB0-5200-5262-91C43A63F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13266D-C0AC-F5EC-8026-0573C5F0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95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FEAA-4908-CC76-0B96-C6EB074FA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A1F1D-33EF-C9D3-1742-BEB640835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50544-AD5A-1D8A-4B5A-BD4E4F9F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01577-922E-BC82-ADEA-CE71432E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52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114F4F-0725-48DC-8ACA-CE17C6DF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C243AE-3F17-DE9D-ABFA-A8B4B9E6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C5CF3-B9FD-0A80-F6AC-9E0CE309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4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2E7E-219A-F440-4E49-BFE72771E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14425-19EE-7A0C-7D89-7CFFE5B41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67F55-78E8-2C83-E6AB-647571DCE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40AA8-CF8C-C1B1-02B8-CF8D9269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EE78F-B435-BF6D-394D-485659B8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C0AFD-D0D8-5066-DF4D-59B7AD09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3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24C3F-C50A-3DE7-7E36-B9677F273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9DC6E-3DF8-F758-B48F-7CAF826B9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E9AFD-2366-C5E0-D88D-DCA3D3472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32CA1-5A21-EBFF-41BE-669161C2F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526651-BE92-9523-0E50-01BFE820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BB9C7-D37E-1B56-E9A7-7CD3BDA1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26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8F06-223D-5A12-411E-6F1E1B2D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CFC36-DC89-578A-18C3-CDFD2BC0B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EC428-B9FF-D075-8DFF-6F5EC50D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FE6DA-B9A7-093F-60CC-11ED8078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B3116-217F-413D-77DA-0CCC14955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13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F4882-10F4-68FF-C7E0-2CBFE7ABC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D14FD-F372-63E5-69AF-1FEE92BDA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103D-930F-5678-6E2A-BEE05DFD5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9B947-2694-A05E-7146-27BCD15F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61FD8-4D96-11A6-8AA1-B5CCD359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2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98729A-E2D2-14E2-3343-BA0E9284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F0981-2B25-78E4-3C15-C20C357D9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191EA-64C9-C5AE-724B-62CF683A2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49109-669F-0944-B484-50B67F37C160}" type="datetimeFigureOut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39E78-B6F7-4F9E-53C4-BD1073A69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CCC3-FE67-86EE-9082-61FFFED98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8AC9E-E192-0140-BF05-27B6B163D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3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0.svg"/><Relationship Id="rId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D1BCC2D-510F-047D-8986-99DD61CCC507}"/>
              </a:ext>
            </a:extLst>
          </p:cNvPr>
          <p:cNvGrpSpPr/>
          <p:nvPr/>
        </p:nvGrpSpPr>
        <p:grpSpPr>
          <a:xfrm>
            <a:off x="514535" y="126199"/>
            <a:ext cx="11561821" cy="6560024"/>
            <a:chOff x="514535" y="126199"/>
            <a:chExt cx="11561821" cy="656002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5EAAC5A-2CBA-BC56-233D-AE7672AAB348}"/>
                </a:ext>
              </a:extLst>
            </p:cNvPr>
            <p:cNvGrpSpPr/>
            <p:nvPr/>
          </p:nvGrpSpPr>
          <p:grpSpPr>
            <a:xfrm>
              <a:off x="2928936" y="1271587"/>
              <a:ext cx="6575383" cy="5414636"/>
              <a:chOff x="150404" y="-220681"/>
              <a:chExt cx="9612123" cy="843518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11DEC67B-9C47-4583-125F-30563F97F5E5}"/>
                  </a:ext>
                </a:extLst>
              </p:cNvPr>
              <p:cNvGrpSpPr/>
              <p:nvPr/>
            </p:nvGrpSpPr>
            <p:grpSpPr>
              <a:xfrm>
                <a:off x="150404" y="360915"/>
                <a:ext cx="7967473" cy="5805105"/>
                <a:chOff x="-828484" y="530225"/>
                <a:chExt cx="7967473" cy="5805105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2EB6FA30-E728-EA24-0EB2-79270DF8F1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87389" y="530225"/>
                  <a:ext cx="6451600" cy="825500"/>
                </a:xfrm>
                <a:prstGeom prst="rect">
                  <a:avLst/>
                </a:prstGeom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05482F5F-EE0A-E9AB-700F-EAB1B3A5BA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r="34405"/>
                <a:stretch/>
              </p:blipFill>
              <p:spPr>
                <a:xfrm>
                  <a:off x="-752864" y="2915848"/>
                  <a:ext cx="4406901" cy="939800"/>
                </a:xfrm>
                <a:prstGeom prst="rect">
                  <a:avLst/>
                </a:prstGeom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851E102C-27BD-5479-C3F8-E569DE8805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r="16501"/>
                <a:stretch/>
              </p:blipFill>
              <p:spPr>
                <a:xfrm>
                  <a:off x="-828484" y="4684317"/>
                  <a:ext cx="4482522" cy="1651013"/>
                </a:xfrm>
                <a:prstGeom prst="rect">
                  <a:avLst/>
                </a:prstGeom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</p:pic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9A8489EB-CF88-0982-8511-9FFD7515DB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17675" y="1380468"/>
                  <a:ext cx="1828800" cy="54864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CBF1E8FB-EEAD-8536-F011-0992119C27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44047" y="2222464"/>
                  <a:ext cx="0" cy="65773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7E067ED-E9AB-5917-FD4D-CF0602747D6A}"/>
                    </a:ext>
                  </a:extLst>
                </p:cNvPr>
                <p:cNvSpPr txBox="1"/>
                <p:nvPr/>
              </p:nvSpPr>
              <p:spPr>
                <a:xfrm>
                  <a:off x="-700217" y="3239909"/>
                  <a:ext cx="4248150" cy="275559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US" sz="1000" dirty="0"/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85420D1A-BAD7-4AE4-EBD3-15AAB7D7EE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04962" y="3855648"/>
                  <a:ext cx="0" cy="82866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E85F71-1272-F2B1-D474-274AC6B4C2B6}"/>
                  </a:ext>
                </a:extLst>
              </p:cNvPr>
              <p:cNvSpPr txBox="1"/>
              <p:nvPr/>
            </p:nvSpPr>
            <p:spPr>
              <a:xfrm>
                <a:off x="2420335" y="-220681"/>
                <a:ext cx="4862376" cy="57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u="sng" dirty="0">
                    <a:latin typeface="Corbel" panose="020B0503020204020204" pitchFamily="34" charset="0"/>
                  </a:rPr>
                  <a:t>Text Based Input Files</a:t>
                </a: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CF6FEB3-99BE-7587-A193-9D5F8D63B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20595"/>
              <a:stretch/>
            </p:blipFill>
            <p:spPr>
              <a:xfrm>
                <a:off x="5204587" y="4496354"/>
                <a:ext cx="3621151" cy="3718152"/>
              </a:xfrm>
              <a:prstGeom prst="rect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5ED462D-0917-E382-F4CB-C85580A6E2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01293" y="1790829"/>
                <a:ext cx="1435100" cy="279400"/>
              </a:xfrm>
              <a:prstGeom prst="rect">
                <a:avLst/>
              </a:prstGeom>
              <a:ln w="19050">
                <a:solidFill>
                  <a:srgbClr val="0070C0"/>
                </a:solidFill>
              </a:ln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9554526-6470-4B06-2574-5633011F1B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r="41753" b="-4637"/>
              <a:stretch/>
            </p:blipFill>
            <p:spPr>
              <a:xfrm>
                <a:off x="2021880" y="1788374"/>
                <a:ext cx="1435094" cy="279068"/>
              </a:xfrm>
              <a:prstGeom prst="rect">
                <a:avLst/>
              </a:prstGeom>
              <a:ln w="19050">
                <a:solidFill>
                  <a:srgbClr val="0070C0"/>
                </a:solidFill>
              </a:ln>
            </p:spPr>
          </p:pic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55F8AC8C-F60A-C248-4681-B7E893366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25363" y="1205984"/>
                <a:ext cx="1828800" cy="54864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4314EB9-F8CA-2BDE-4431-B38096B986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34405"/>
              <a:stretch/>
            </p:blipFill>
            <p:spPr>
              <a:xfrm>
                <a:off x="5355626" y="2713597"/>
                <a:ext cx="4406901" cy="939800"/>
              </a:xfrm>
              <a:prstGeom prst="rect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57E9D6-EE4E-236B-F4DE-B516209A8EDB}"/>
                  </a:ext>
                </a:extLst>
              </p:cNvPr>
              <p:cNvSpPr txBox="1"/>
              <p:nvPr/>
            </p:nvSpPr>
            <p:spPr>
              <a:xfrm>
                <a:off x="5425861" y="3037657"/>
                <a:ext cx="4248150" cy="275559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US" sz="10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9C3D91D-875E-6CB4-437E-849E07C04F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57723" y="2053154"/>
                <a:ext cx="0" cy="65773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FE9B546-2CAD-8A5B-4FF3-2A0C7AEA5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1500" y="3667685"/>
                <a:ext cx="0" cy="82866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B95FCD-61E4-F925-52D8-4FA015094D8D}"/>
                  </a:ext>
                </a:extLst>
              </p:cNvPr>
              <p:cNvSpPr txBox="1"/>
              <p:nvPr/>
            </p:nvSpPr>
            <p:spPr>
              <a:xfrm>
                <a:off x="5340373" y="1202576"/>
                <a:ext cx="2673070" cy="479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err="1">
                    <a:solidFill>
                      <a:srgbClr val="0070C0"/>
                    </a:solidFill>
                    <a:latin typeface="Corbel" panose="020B0503020204020204" pitchFamily="34" charset="0"/>
                  </a:rPr>
                  <a:t>PDFPlumber</a:t>
                </a:r>
                <a:endParaRPr lang="en-US" sz="1400" b="1" dirty="0">
                  <a:solidFill>
                    <a:srgbClr val="0070C0"/>
                  </a:solidFill>
                  <a:latin typeface="Corbel" panose="020B050302020402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567698-A3B0-FC24-8825-8F4559DF619D}"/>
                  </a:ext>
                </a:extLst>
              </p:cNvPr>
              <p:cNvSpPr txBox="1"/>
              <p:nvPr/>
            </p:nvSpPr>
            <p:spPr>
              <a:xfrm>
                <a:off x="2186489" y="1232418"/>
                <a:ext cx="16302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  <a:latin typeface="Corbel" panose="020B0503020204020204" pitchFamily="34" charset="0"/>
                  </a:rPr>
                  <a:t>Tabula</a:t>
                </a:r>
              </a:p>
            </p:txBody>
          </p:sp>
        </p:grp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3AC0CA9C-961C-017A-F7B9-FDA41DA4C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83471" y="126199"/>
              <a:ext cx="843094" cy="843094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EED5A048-E3E1-429E-1CDD-F0F330B6B0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b="22613"/>
            <a:stretch/>
          </p:blipFill>
          <p:spPr>
            <a:xfrm>
              <a:off x="11161956" y="184968"/>
              <a:ext cx="914400" cy="70762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CD9F0B-09AC-B529-847E-FB2515BF6A9D}"/>
                </a:ext>
              </a:extLst>
            </p:cNvPr>
            <p:cNvSpPr txBox="1"/>
            <p:nvPr/>
          </p:nvSpPr>
          <p:spPr>
            <a:xfrm>
              <a:off x="514535" y="481579"/>
              <a:ext cx="91723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Corbel" panose="020B0503020204020204" pitchFamily="34" charset="0"/>
                  <a:cs typeface="Calibri Light" panose="020F0302020204030204" pitchFamily="34" charset="0"/>
                </a:rPr>
                <a:t>Text Extraction from Text based PDF using Tabula and </a:t>
              </a:r>
              <a:r>
                <a:rPr lang="en-US" sz="2400" b="1" dirty="0" err="1">
                  <a:solidFill>
                    <a:srgbClr val="0070C0"/>
                  </a:solidFill>
                  <a:latin typeface="Corbel" panose="020B0503020204020204" pitchFamily="34" charset="0"/>
                  <a:cs typeface="Calibri Light" panose="020F0302020204030204" pitchFamily="34" charset="0"/>
                </a:rPr>
                <a:t>PDFPlumber</a:t>
              </a:r>
              <a:r>
                <a:rPr lang="en-US" sz="2400" b="1" dirty="0">
                  <a:solidFill>
                    <a:srgbClr val="0070C0"/>
                  </a:solidFill>
                  <a:latin typeface="Corbel" panose="020B0503020204020204" pitchFamily="34" charset="0"/>
                  <a:cs typeface="Calibri Light" panose="020F0302020204030204" pitchFamily="34" charset="0"/>
                </a:rPr>
                <a:t>:</a:t>
              </a:r>
            </a:p>
          </p:txBody>
        </p: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733DA9D4-69BB-5DC7-ACD0-C616EBB93C1D}"/>
                </a:ext>
              </a:extLst>
            </p:cNvPr>
            <p:cNvSpPr/>
            <p:nvPr/>
          </p:nvSpPr>
          <p:spPr>
            <a:xfrm>
              <a:off x="8918467" y="4282899"/>
              <a:ext cx="406453" cy="2386721"/>
            </a:xfrm>
            <a:prstGeom prst="rightBrac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5907692-B551-D258-2416-DCB12D2802F5}"/>
                </a:ext>
              </a:extLst>
            </p:cNvPr>
            <p:cNvSpPr txBox="1"/>
            <p:nvPr/>
          </p:nvSpPr>
          <p:spPr>
            <a:xfrm>
              <a:off x="9379900" y="5308195"/>
              <a:ext cx="1435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rbel" panose="020B0503020204020204" pitchFamily="34" charset="0"/>
                </a:rPr>
                <a:t>Output: Text</a:t>
              </a:r>
            </a:p>
          </p:txBody>
        </p:sp>
        <p:sp>
          <p:nvSpPr>
            <p:cNvPr id="29" name="Left Brace 28">
              <a:extLst>
                <a:ext uri="{FF2B5EF4-FFF2-40B4-BE49-F238E27FC236}">
                  <a16:creationId xmlns:a16="http://schemas.microsoft.com/office/drawing/2014/main" id="{5F7DDCBF-03D9-9B11-FDD1-D06E04CAC171}"/>
                </a:ext>
              </a:extLst>
            </p:cNvPr>
            <p:cNvSpPr/>
            <p:nvPr/>
          </p:nvSpPr>
          <p:spPr>
            <a:xfrm>
              <a:off x="2589264" y="4311475"/>
              <a:ext cx="262938" cy="1071777"/>
            </a:xfrm>
            <a:prstGeom prst="leftBrac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E3322A-94D0-FF95-8D8A-B93EFA995D9B}"/>
                </a:ext>
              </a:extLst>
            </p:cNvPr>
            <p:cNvSpPr txBox="1"/>
            <p:nvPr/>
          </p:nvSpPr>
          <p:spPr>
            <a:xfrm>
              <a:off x="1119123" y="4656710"/>
              <a:ext cx="1435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rbel" panose="020B0503020204020204" pitchFamily="34" charset="0"/>
                </a:rPr>
                <a:t>Output: CSV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7317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A5206D-DF32-91E5-99C5-F7DB7612B34F}"/>
              </a:ext>
            </a:extLst>
          </p:cNvPr>
          <p:cNvGrpSpPr/>
          <p:nvPr/>
        </p:nvGrpSpPr>
        <p:grpSpPr>
          <a:xfrm>
            <a:off x="372298" y="126199"/>
            <a:ext cx="11704058" cy="6210017"/>
            <a:chOff x="372298" y="126199"/>
            <a:chExt cx="11704058" cy="621001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4A5CC45-669B-846A-2E80-A74BB144B7E2}"/>
                </a:ext>
              </a:extLst>
            </p:cNvPr>
            <p:cNvGrpSpPr/>
            <p:nvPr/>
          </p:nvGrpSpPr>
          <p:grpSpPr>
            <a:xfrm>
              <a:off x="929356" y="1232314"/>
              <a:ext cx="7863801" cy="5103902"/>
              <a:chOff x="1729457" y="877049"/>
              <a:chExt cx="7863801" cy="5103902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6E4EE97-C8E8-561D-52CB-1ED5CBD15B42}"/>
                  </a:ext>
                </a:extLst>
              </p:cNvPr>
              <p:cNvGrpSpPr/>
              <p:nvPr/>
            </p:nvGrpSpPr>
            <p:grpSpPr>
              <a:xfrm>
                <a:off x="1729457" y="877049"/>
                <a:ext cx="7863801" cy="5103902"/>
                <a:chOff x="1715169" y="428406"/>
                <a:chExt cx="7863801" cy="5103902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15F082C0-CA91-A245-DD25-D71C23C56E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743944" y="894372"/>
                  <a:ext cx="3911600" cy="546100"/>
                </a:xfrm>
                <a:prstGeom prst="rect">
                  <a:avLst/>
                </a:prstGeom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</p:pic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3173766-C39E-C277-6834-EB04954DA401}"/>
                    </a:ext>
                  </a:extLst>
                </p:cNvPr>
                <p:cNvSpPr txBox="1"/>
                <p:nvPr/>
              </p:nvSpPr>
              <p:spPr>
                <a:xfrm>
                  <a:off x="3954313" y="428406"/>
                  <a:ext cx="34908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u="sng" dirty="0">
                      <a:latin typeface="Corbel" panose="020B0503020204020204" pitchFamily="34" charset="0"/>
                    </a:rPr>
                    <a:t>Image Based Input Files</a:t>
                  </a:r>
                </a:p>
              </p:txBody>
            </p:sp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9FB38A93-41B2-7B3C-7BE0-EABEC01B0F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17702" y="1912024"/>
                  <a:ext cx="2501900" cy="266700"/>
                </a:xfrm>
                <a:prstGeom prst="rect">
                  <a:avLst/>
                </a:prstGeom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3D4AE363-6416-5535-C0A2-C0709B4F1C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04307" y="2715777"/>
                  <a:ext cx="3721100" cy="63500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</p:pic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CAC3B1CD-F2EB-E92C-97F9-B08D9817DD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04649" y="3393994"/>
                  <a:ext cx="1645920" cy="54864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983D3CDB-AA57-3F6E-B82F-4FF63B9A93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54364" y="1432418"/>
                  <a:ext cx="0" cy="49467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C7BE5592-3181-86E9-B26D-34D7CD263E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15169" y="3963640"/>
                  <a:ext cx="3835400" cy="25400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E19D366E-8E00-BD5C-D075-6F6C847E76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48994" y="3944998"/>
                  <a:ext cx="3213100" cy="317500"/>
                </a:xfrm>
                <a:prstGeom prst="rect">
                  <a:avLst/>
                </a:prstGeom>
                <a:ln w="19050">
                  <a:solidFill>
                    <a:schemeClr val="tx1"/>
                  </a:solidFill>
                </a:ln>
              </p:spPr>
            </p:pic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11170C03-49D0-65CF-742F-76F9DB5321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95970" y="4783008"/>
                  <a:ext cx="3683000" cy="749300"/>
                </a:xfrm>
                <a:prstGeom prst="rect">
                  <a:avLst/>
                </a:prstGeom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</p:pic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7D37A8F-548D-45B0-EF3E-DED73ED5DD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50569" y="3379367"/>
                  <a:ext cx="1645920" cy="54864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F6F94973-7981-6027-AEC8-F6EFD312B7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64857" y="2193012"/>
                  <a:ext cx="0" cy="49467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0E5C896A-C111-B6FA-81D0-4EAA2F25C0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55544" y="4262498"/>
                  <a:ext cx="0" cy="49467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FCA034E-1F00-C362-0818-D0403C6DF13B}"/>
                    </a:ext>
                  </a:extLst>
                </p:cNvPr>
                <p:cNvSpPr txBox="1"/>
                <p:nvPr/>
              </p:nvSpPr>
              <p:spPr>
                <a:xfrm>
                  <a:off x="3743944" y="3015830"/>
                  <a:ext cx="3471094" cy="251787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US" sz="1000" dirty="0"/>
                </a:p>
              </p:txBody>
            </p:sp>
          </p:grp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E7AADA9-0909-5746-A213-B672BBC3177D}"/>
                  </a:ext>
                </a:extLst>
              </p:cNvPr>
              <p:cNvSpPr txBox="1"/>
              <p:nvPr/>
            </p:nvSpPr>
            <p:spPr>
              <a:xfrm>
                <a:off x="4589764" y="1993654"/>
                <a:ext cx="1296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  <a:latin typeface="Corbel" panose="020B0503020204020204" pitchFamily="34" charset="0"/>
                  </a:rPr>
                  <a:t>OCR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A299430-92D0-F599-2D07-3CE8C184403E}"/>
                  </a:ext>
                </a:extLst>
              </p:cNvPr>
              <p:cNvSpPr txBox="1"/>
              <p:nvPr/>
            </p:nvSpPr>
            <p:spPr>
              <a:xfrm>
                <a:off x="3531302" y="3875225"/>
                <a:ext cx="12966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err="1">
                    <a:solidFill>
                      <a:srgbClr val="0070C0"/>
                    </a:solidFill>
                    <a:latin typeface="Corbel" panose="020B0503020204020204" pitchFamily="34" charset="0"/>
                  </a:rPr>
                  <a:t>PaddleOCR</a:t>
                </a:r>
                <a:endParaRPr lang="en-US" sz="1400" b="1" dirty="0">
                  <a:solidFill>
                    <a:srgbClr val="0070C0"/>
                  </a:solidFill>
                  <a:latin typeface="Corbel" panose="020B0503020204020204" pitchFamily="34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697E85D-0B81-5B95-643F-3235325CC536}"/>
                  </a:ext>
                </a:extLst>
              </p:cNvPr>
              <p:cNvSpPr txBox="1"/>
              <p:nvPr/>
            </p:nvSpPr>
            <p:spPr>
              <a:xfrm>
                <a:off x="6095346" y="3899523"/>
                <a:ext cx="340164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err="1">
                    <a:solidFill>
                      <a:srgbClr val="0070C0"/>
                    </a:solidFill>
                    <a:latin typeface="Corbel" panose="020B0503020204020204" pitchFamily="34" charset="0"/>
                  </a:rPr>
                  <a:t>PPStructure</a:t>
                </a:r>
                <a:r>
                  <a:rPr lang="en-US" sz="1400" b="1" dirty="0">
                    <a:solidFill>
                      <a:srgbClr val="0070C0"/>
                    </a:solidFill>
                    <a:latin typeface="Corbel" panose="020B0503020204020204" pitchFamily="34" charset="0"/>
                  </a:rPr>
                  <a:t> with </a:t>
                </a:r>
                <a:r>
                  <a:rPr lang="en-US" sz="1400" b="1" dirty="0" err="1">
                    <a:solidFill>
                      <a:srgbClr val="0070C0"/>
                    </a:solidFill>
                    <a:latin typeface="Corbel" panose="020B0503020204020204" pitchFamily="34" charset="0"/>
                  </a:rPr>
                  <a:t>PaddleOCR</a:t>
                </a:r>
                <a:endParaRPr lang="en-US" sz="1400" b="1" dirty="0">
                  <a:solidFill>
                    <a:srgbClr val="0070C0"/>
                  </a:solidFill>
                  <a:latin typeface="Corbel" panose="020B0503020204020204" pitchFamily="34" charset="0"/>
                </a:endParaRPr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0A2C3108-B310-FC19-D810-18E30DA35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83471" y="126199"/>
              <a:ext cx="843094" cy="843094"/>
            </a:xfrm>
            <a:prstGeom prst="rect">
              <a:avLst/>
            </a:prstGeom>
          </p:spPr>
        </p:pic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2EB297F7-40C6-0E9A-1E83-359A5C76C5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b="22613"/>
            <a:stretch/>
          </p:blipFill>
          <p:spPr>
            <a:xfrm>
              <a:off x="11161956" y="184968"/>
              <a:ext cx="914400" cy="70762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BF3BBC2-A3C4-4E67-BC1F-DB17F3A54D6C}"/>
                </a:ext>
              </a:extLst>
            </p:cNvPr>
            <p:cNvSpPr txBox="1"/>
            <p:nvPr/>
          </p:nvSpPr>
          <p:spPr>
            <a:xfrm>
              <a:off x="372298" y="448424"/>
              <a:ext cx="1035726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2400" b="1" dirty="0">
                  <a:solidFill>
                    <a:srgbClr val="0070C0"/>
                  </a:solidFill>
                  <a:latin typeface="Corbel" panose="020B0503020204020204" pitchFamily="34" charset="0"/>
                </a:rPr>
                <a:t>Text Extraction from Image-based PDF using OCR: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A4DDD3-A648-F74A-880D-921D5A326430}"/>
                </a:ext>
              </a:extLst>
            </p:cNvPr>
            <p:cNvSpPr txBox="1"/>
            <p:nvPr/>
          </p:nvSpPr>
          <p:spPr>
            <a:xfrm>
              <a:off x="2013358" y="5075888"/>
              <a:ext cx="1435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rbel" panose="020B0503020204020204" pitchFamily="34" charset="0"/>
                </a:rPr>
                <a:t>Output: Text</a:t>
              </a:r>
            </a:p>
          </p:txBody>
        </p:sp>
        <p:sp>
          <p:nvSpPr>
            <p:cNvPr id="49" name="Right Brace 48">
              <a:extLst>
                <a:ext uri="{FF2B5EF4-FFF2-40B4-BE49-F238E27FC236}">
                  <a16:creationId xmlns:a16="http://schemas.microsoft.com/office/drawing/2014/main" id="{D5179F09-EF5B-C442-F37D-99B46CF1BD0B}"/>
                </a:ext>
              </a:extLst>
            </p:cNvPr>
            <p:cNvSpPr/>
            <p:nvPr/>
          </p:nvSpPr>
          <p:spPr>
            <a:xfrm>
              <a:off x="8830255" y="5586916"/>
              <a:ext cx="318819" cy="749300"/>
            </a:xfrm>
            <a:prstGeom prst="rightBrac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814B8EE-3335-EE3E-ED76-201458579004}"/>
                </a:ext>
              </a:extLst>
            </p:cNvPr>
            <p:cNvSpPr txBox="1"/>
            <p:nvPr/>
          </p:nvSpPr>
          <p:spPr>
            <a:xfrm>
              <a:off x="8830255" y="5569421"/>
              <a:ext cx="30572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rbel" panose="020B0503020204020204" pitchFamily="34" charset="0"/>
                </a:rPr>
                <a:t>Output: Excel &amp; Text file </a:t>
              </a:r>
            </a:p>
            <a:p>
              <a:pPr algn="ctr"/>
              <a:r>
                <a:rPr lang="en-US" dirty="0">
                  <a:latin typeface="Corbel" panose="020B0503020204020204" pitchFamily="34" charset="0"/>
                </a:rPr>
                <a:t>(with coordinates)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682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3501</TotalTime>
  <Words>53</Words>
  <Application>Microsoft Macintosh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Corbel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Hassan, Samiah - (samiah)</dc:creator>
  <cp:lastModifiedBy>Hassan, Samiah - (samiah)</cp:lastModifiedBy>
  <cp:revision>13</cp:revision>
  <dcterms:created xsi:type="dcterms:W3CDTF">2024-10-03T03:22:29Z</dcterms:created>
  <dcterms:modified xsi:type="dcterms:W3CDTF">2024-10-20T02:19:47Z</dcterms:modified>
</cp:coreProperties>
</file>